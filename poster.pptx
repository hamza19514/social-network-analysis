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p:cViewPr>
        <p:scale>
          <a:sx n="50" d="100"/>
          <a:sy n="50" d="100"/>
        </p:scale>
        <p:origin x="105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7E18D8-47C7-42AD-9205-B1E473E12281}" type="datetimeFigureOut">
              <a:rPr lang="en-US" smtClean="0"/>
              <a:t>12/3/2025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B3590-B253-4B03-B619-956E2FA9BD3D}" type="slidenum">
              <a:rPr lang="en-US" smtClean="0"/>
              <a:t>‹#›</a:t>
            </a:fld>
            <a:endParaRPr lang="en-US"/>
          </a:p>
        </p:txBody>
      </p:sp>
    </p:spTree>
    <p:extLst>
      <p:ext uri="{BB962C8B-B14F-4D97-AF65-F5344CB8AC3E}">
        <p14:creationId xmlns:p14="http://schemas.microsoft.com/office/powerpoint/2010/main" val="3067980964"/>
      </p:ext>
    </p:extLst>
  </p:cSld>
  <p:clrMap bg1="lt1" tx1="dk1" bg2="lt2" tx2="dk2" accent1="accent1" accent2="accent2" accent3="accent3" accent4="accent4" accent5="accent5" accent6="accent6" hlink="hlink" folHlink="folHlink"/>
  <p:notesStyle>
    <a:lvl1pPr marL="0" algn="l" defTabSz="2633472" rtl="0" eaLnBrk="1" latinLnBrk="0" hangingPunct="1">
      <a:defRPr sz="3456" kern="1200">
        <a:solidFill>
          <a:schemeClr val="tx1"/>
        </a:solidFill>
        <a:latin typeface="+mn-lt"/>
        <a:ea typeface="+mn-ea"/>
        <a:cs typeface="+mn-cs"/>
      </a:defRPr>
    </a:lvl1pPr>
    <a:lvl2pPr marL="1316736" algn="l" defTabSz="2633472" rtl="0" eaLnBrk="1" latinLnBrk="0" hangingPunct="1">
      <a:defRPr sz="3456" kern="1200">
        <a:solidFill>
          <a:schemeClr val="tx1"/>
        </a:solidFill>
        <a:latin typeface="+mn-lt"/>
        <a:ea typeface="+mn-ea"/>
        <a:cs typeface="+mn-cs"/>
      </a:defRPr>
    </a:lvl2pPr>
    <a:lvl3pPr marL="2633472" algn="l" defTabSz="2633472" rtl="0" eaLnBrk="1" latinLnBrk="0" hangingPunct="1">
      <a:defRPr sz="3456" kern="1200">
        <a:solidFill>
          <a:schemeClr val="tx1"/>
        </a:solidFill>
        <a:latin typeface="+mn-lt"/>
        <a:ea typeface="+mn-ea"/>
        <a:cs typeface="+mn-cs"/>
      </a:defRPr>
    </a:lvl3pPr>
    <a:lvl4pPr marL="3950208" algn="l" defTabSz="2633472" rtl="0" eaLnBrk="1" latinLnBrk="0" hangingPunct="1">
      <a:defRPr sz="3456" kern="1200">
        <a:solidFill>
          <a:schemeClr val="tx1"/>
        </a:solidFill>
        <a:latin typeface="+mn-lt"/>
        <a:ea typeface="+mn-ea"/>
        <a:cs typeface="+mn-cs"/>
      </a:defRPr>
    </a:lvl4pPr>
    <a:lvl5pPr marL="5266944" algn="l" defTabSz="2633472" rtl="0" eaLnBrk="1" latinLnBrk="0" hangingPunct="1">
      <a:defRPr sz="3456" kern="1200">
        <a:solidFill>
          <a:schemeClr val="tx1"/>
        </a:solidFill>
        <a:latin typeface="+mn-lt"/>
        <a:ea typeface="+mn-ea"/>
        <a:cs typeface="+mn-cs"/>
      </a:defRPr>
    </a:lvl5pPr>
    <a:lvl6pPr marL="6583680" algn="l" defTabSz="2633472" rtl="0" eaLnBrk="1" latinLnBrk="0" hangingPunct="1">
      <a:defRPr sz="3456" kern="1200">
        <a:solidFill>
          <a:schemeClr val="tx1"/>
        </a:solidFill>
        <a:latin typeface="+mn-lt"/>
        <a:ea typeface="+mn-ea"/>
        <a:cs typeface="+mn-cs"/>
      </a:defRPr>
    </a:lvl6pPr>
    <a:lvl7pPr marL="7900416" algn="l" defTabSz="2633472" rtl="0" eaLnBrk="1" latinLnBrk="0" hangingPunct="1">
      <a:defRPr sz="3456" kern="1200">
        <a:solidFill>
          <a:schemeClr val="tx1"/>
        </a:solidFill>
        <a:latin typeface="+mn-lt"/>
        <a:ea typeface="+mn-ea"/>
        <a:cs typeface="+mn-cs"/>
      </a:defRPr>
    </a:lvl7pPr>
    <a:lvl8pPr marL="9217152" algn="l" defTabSz="2633472" rtl="0" eaLnBrk="1" latinLnBrk="0" hangingPunct="1">
      <a:defRPr sz="3456" kern="1200">
        <a:solidFill>
          <a:schemeClr val="tx1"/>
        </a:solidFill>
        <a:latin typeface="+mn-lt"/>
        <a:ea typeface="+mn-ea"/>
        <a:cs typeface="+mn-cs"/>
      </a:defRPr>
    </a:lvl8pPr>
    <a:lvl9pPr marL="10533888" algn="l" defTabSz="2633472" rtl="0" eaLnBrk="1" latinLnBrk="0" hangingPunct="1">
      <a:defRPr sz="345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EB3590-B253-4B03-B619-956E2FA9BD3D}" type="slidenum">
              <a:rPr lang="en-US" smtClean="0"/>
              <a:t>1</a:t>
            </a:fld>
            <a:endParaRPr lang="en-US"/>
          </a:p>
        </p:txBody>
      </p:sp>
    </p:spTree>
    <p:extLst>
      <p:ext uri="{BB962C8B-B14F-4D97-AF65-F5344CB8AC3E}">
        <p14:creationId xmlns:p14="http://schemas.microsoft.com/office/powerpoint/2010/main" val="355223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683000-7F97-47DE-8EC7-852CBD6AE388}"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396223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683000-7F97-47DE-8EC7-852CBD6AE388}"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1191396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683000-7F97-47DE-8EC7-852CBD6AE388}"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179331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683000-7F97-47DE-8EC7-852CBD6AE388}"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2774648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683000-7F97-47DE-8EC7-852CBD6AE388}"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717715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683000-7F97-47DE-8EC7-852CBD6AE388}"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134203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683000-7F97-47DE-8EC7-852CBD6AE388}"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3727713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F7683000-7F97-47DE-8EC7-852CBD6AE388}"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1807094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F7683000-7F97-47DE-8EC7-852CBD6AE388}"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3878869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683000-7F97-47DE-8EC7-852CBD6AE388}"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2506102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683000-7F97-47DE-8EC7-852CBD6AE388}"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ED2479-E64A-472A-B175-7E5D744001D4}" type="slidenum">
              <a:rPr lang="en-US" smtClean="0"/>
              <a:t>‹#›</a:t>
            </a:fld>
            <a:endParaRPr lang="en-US"/>
          </a:p>
        </p:txBody>
      </p:sp>
    </p:spTree>
    <p:extLst>
      <p:ext uri="{BB962C8B-B14F-4D97-AF65-F5344CB8AC3E}">
        <p14:creationId xmlns:p14="http://schemas.microsoft.com/office/powerpoint/2010/main" val="1900498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F7683000-7F97-47DE-8EC7-852CBD6AE388}" type="datetimeFigureOut">
              <a:rPr lang="en-US" smtClean="0"/>
              <a:t>12/3/2025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47ED2479-E64A-472A-B175-7E5D744001D4}" type="slidenum">
              <a:rPr lang="en-US" smtClean="0"/>
              <a:t>‹#›</a:t>
            </a:fld>
            <a:endParaRPr lang="en-US"/>
          </a:p>
        </p:txBody>
      </p:sp>
    </p:spTree>
    <p:extLst>
      <p:ext uri="{BB962C8B-B14F-4D97-AF65-F5344CB8AC3E}">
        <p14:creationId xmlns:p14="http://schemas.microsoft.com/office/powerpoint/2010/main" val="1237253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with a bar graph&#10;&#10;AI-generated content may be incorrect.">
            <a:extLst>
              <a:ext uri="{FF2B5EF4-FFF2-40B4-BE49-F238E27FC236}">
                <a16:creationId xmlns:a16="http://schemas.microsoft.com/office/drawing/2014/main" id="{5ED913EE-9757-C578-E060-F510DF5BD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87266" y="15812054"/>
            <a:ext cx="9394967" cy="5544467"/>
          </a:xfrm>
          <a:prstGeom prst="rect">
            <a:avLst/>
          </a:prstGeom>
        </p:spPr>
      </p:pic>
      <p:pic>
        <p:nvPicPr>
          <p:cNvPr id="10" name="Picture 9" descr="A graph with text and numbers&#10;&#10;AI-generated content may be incorrect.">
            <a:extLst>
              <a:ext uri="{FF2B5EF4-FFF2-40B4-BE49-F238E27FC236}">
                <a16:creationId xmlns:a16="http://schemas.microsoft.com/office/drawing/2014/main" id="{62FEBDEF-FCBA-AE8B-5757-F54CA9549A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3550" y="7454451"/>
            <a:ext cx="10349844" cy="7722210"/>
          </a:xfrm>
          <a:prstGeom prst="rect">
            <a:avLst/>
          </a:prstGeom>
        </p:spPr>
      </p:pic>
      <p:pic>
        <p:nvPicPr>
          <p:cNvPr id="12" name="Picture 11" descr="A colorful squares with white text&#10;&#10;AI-generated content may be incorrect.">
            <a:extLst>
              <a:ext uri="{FF2B5EF4-FFF2-40B4-BE49-F238E27FC236}">
                <a16:creationId xmlns:a16="http://schemas.microsoft.com/office/drawing/2014/main" id="{CC423E97-8462-57F5-1CC0-10F046F573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5481" y="810025"/>
            <a:ext cx="10306050" cy="6187935"/>
          </a:xfrm>
          <a:prstGeom prst="rect">
            <a:avLst/>
          </a:prstGeom>
        </p:spPr>
      </p:pic>
      <p:pic>
        <p:nvPicPr>
          <p:cNvPr id="14" name="Picture 13" descr="A diagram of a community&#10;&#10;AI-generated content may be incorrect.">
            <a:extLst>
              <a:ext uri="{FF2B5EF4-FFF2-40B4-BE49-F238E27FC236}">
                <a16:creationId xmlns:a16="http://schemas.microsoft.com/office/drawing/2014/main" id="{5E7ED832-A8A5-1964-4ED4-70CE50D001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0188" y="15954486"/>
            <a:ext cx="8101616" cy="5402035"/>
          </a:xfrm>
          <a:prstGeom prst="rect">
            <a:avLst/>
          </a:prstGeom>
        </p:spPr>
      </p:pic>
      <p:pic>
        <p:nvPicPr>
          <p:cNvPr id="16" name="Picture 15" descr="A group of blue circles and lines&#10;&#10;AI-generated content may be incorrect.">
            <a:extLst>
              <a:ext uri="{FF2B5EF4-FFF2-40B4-BE49-F238E27FC236}">
                <a16:creationId xmlns:a16="http://schemas.microsoft.com/office/drawing/2014/main" id="{6615CA30-FF96-852E-4B2A-75794749D7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78199" y="7426621"/>
            <a:ext cx="12580395" cy="7714283"/>
          </a:xfrm>
          <a:prstGeom prst="rect">
            <a:avLst/>
          </a:prstGeom>
        </p:spPr>
      </p:pic>
      <p:pic>
        <p:nvPicPr>
          <p:cNvPr id="18" name="Picture 17" descr="A chart of different colored squares&#10;&#10;AI-generated content may be incorrect.">
            <a:extLst>
              <a:ext uri="{FF2B5EF4-FFF2-40B4-BE49-F238E27FC236}">
                <a16:creationId xmlns:a16="http://schemas.microsoft.com/office/drawing/2014/main" id="{2D285BA7-4B6B-EF55-2107-295AF1199E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33906" y="813507"/>
            <a:ext cx="12580395" cy="6197495"/>
          </a:xfrm>
          <a:prstGeom prst="rect">
            <a:avLst/>
          </a:prstGeom>
        </p:spPr>
      </p:pic>
      <p:sp>
        <p:nvSpPr>
          <p:cNvPr id="19" name="TextBox 18">
            <a:extLst>
              <a:ext uri="{FF2B5EF4-FFF2-40B4-BE49-F238E27FC236}">
                <a16:creationId xmlns:a16="http://schemas.microsoft.com/office/drawing/2014/main" id="{D6311E85-D4A7-A84C-4E58-7699C34B68D0}"/>
              </a:ext>
            </a:extLst>
          </p:cNvPr>
          <p:cNvSpPr txBox="1"/>
          <p:nvPr/>
        </p:nvSpPr>
        <p:spPr>
          <a:xfrm>
            <a:off x="26289000" y="3351154"/>
            <a:ext cx="6940310" cy="895629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0" name="Rectangle 19">
            <a:extLst>
              <a:ext uri="{FF2B5EF4-FFF2-40B4-BE49-F238E27FC236}">
                <a16:creationId xmlns:a16="http://schemas.microsoft.com/office/drawing/2014/main" id="{A6ADE1BF-CED7-D725-C250-C05167C871B6}"/>
              </a:ext>
            </a:extLst>
          </p:cNvPr>
          <p:cNvSpPr/>
          <p:nvPr/>
        </p:nvSpPr>
        <p:spPr>
          <a:xfrm>
            <a:off x="10313758" y="0"/>
            <a:ext cx="10306050" cy="738227"/>
          </a:xfrm>
          <a:prstGeom prst="rect">
            <a:avLst/>
          </a:prstGeom>
          <a:solidFill>
            <a:schemeClr val="tx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Network Modeling of Socioeconomic Segregation Across Chicago’s Community Areas</a:t>
            </a:r>
          </a:p>
        </p:txBody>
      </p:sp>
      <p:sp>
        <p:nvSpPr>
          <p:cNvPr id="21" name="Rectangle: Rounded Corners 20">
            <a:extLst>
              <a:ext uri="{FF2B5EF4-FFF2-40B4-BE49-F238E27FC236}">
                <a16:creationId xmlns:a16="http://schemas.microsoft.com/office/drawing/2014/main" id="{242EBC9C-7E0E-3745-D1F3-B9B00B870ED4}"/>
              </a:ext>
            </a:extLst>
          </p:cNvPr>
          <p:cNvSpPr/>
          <p:nvPr/>
        </p:nvSpPr>
        <p:spPr>
          <a:xfrm>
            <a:off x="114301" y="974865"/>
            <a:ext cx="4004779" cy="15218276"/>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50" b="1" dirty="0">
                <a:solidFill>
                  <a:schemeClr val="bg1"/>
                </a:solidFill>
              </a:rPr>
              <a:t>Understanding Similarities and Network Structure Across Chicago Communities.</a:t>
            </a:r>
          </a:p>
          <a:p>
            <a:endParaRPr lang="en-US" sz="1750" b="1" dirty="0">
              <a:solidFill>
                <a:schemeClr val="bg1"/>
              </a:solidFill>
            </a:endParaRPr>
          </a:p>
          <a:p>
            <a:r>
              <a:rPr lang="en-US" sz="1750" dirty="0">
                <a:solidFill>
                  <a:schemeClr val="bg1"/>
                </a:solidFill>
              </a:rPr>
              <a:t>This study analyzes how Chicago neighborhoods relate to one another based on demographic and socioeconomic indicators. By combining clustering, similarity measures, and network analysis, we identify which communities share common characteristics and how strongly they are connected.</a:t>
            </a:r>
          </a:p>
          <a:p>
            <a:endParaRPr lang="en-US" sz="1750" dirty="0">
              <a:solidFill>
                <a:schemeClr val="bg1"/>
              </a:solidFill>
            </a:endParaRPr>
          </a:p>
          <a:p>
            <a:r>
              <a:rPr lang="en-US" sz="1750" b="1" dirty="0">
                <a:solidFill>
                  <a:schemeClr val="bg1"/>
                </a:solidFill>
              </a:rPr>
              <a:t>Methodology</a:t>
            </a:r>
          </a:p>
          <a:p>
            <a:r>
              <a:rPr lang="en-US" sz="1750" dirty="0">
                <a:solidFill>
                  <a:schemeClr val="bg1"/>
                </a:solidFill>
              </a:rPr>
              <a:t>A feature dataset was standardized and reduced using </a:t>
            </a:r>
            <a:r>
              <a:rPr lang="en-US" sz="1750" b="1" dirty="0">
                <a:solidFill>
                  <a:schemeClr val="bg1"/>
                </a:solidFill>
              </a:rPr>
              <a:t>Principal Component Analysis (PCA)</a:t>
            </a:r>
            <a:r>
              <a:rPr lang="en-US" sz="1750" dirty="0">
                <a:solidFill>
                  <a:schemeClr val="bg1"/>
                </a:solidFill>
              </a:rPr>
              <a:t>.</a:t>
            </a:r>
          </a:p>
          <a:p>
            <a:r>
              <a:rPr lang="en-US" sz="1750" dirty="0">
                <a:solidFill>
                  <a:schemeClr val="bg1"/>
                </a:solidFill>
              </a:rPr>
              <a:t>Community relationships were computed using </a:t>
            </a:r>
            <a:r>
              <a:rPr lang="en-US" sz="1750" b="1" dirty="0">
                <a:solidFill>
                  <a:schemeClr val="bg1"/>
                </a:solidFill>
              </a:rPr>
              <a:t>cosine similarity</a:t>
            </a:r>
            <a:r>
              <a:rPr lang="en-US" sz="1750" dirty="0">
                <a:solidFill>
                  <a:schemeClr val="bg1"/>
                </a:solidFill>
              </a:rPr>
              <a:t>, </a:t>
            </a:r>
            <a:r>
              <a:rPr lang="en-US" sz="1750" b="1" dirty="0">
                <a:solidFill>
                  <a:schemeClr val="bg1"/>
                </a:solidFill>
              </a:rPr>
              <a:t>correlation</a:t>
            </a:r>
            <a:r>
              <a:rPr lang="en-US" sz="1750" dirty="0">
                <a:solidFill>
                  <a:schemeClr val="bg1"/>
                </a:solidFill>
              </a:rPr>
              <a:t>, and </a:t>
            </a:r>
            <a:r>
              <a:rPr lang="en-US" sz="1750" b="1" dirty="0">
                <a:solidFill>
                  <a:schemeClr val="bg1"/>
                </a:solidFill>
              </a:rPr>
              <a:t>Euclidean distance</a:t>
            </a:r>
            <a:r>
              <a:rPr lang="en-US" sz="1750" dirty="0">
                <a:solidFill>
                  <a:schemeClr val="bg1"/>
                </a:solidFill>
              </a:rPr>
              <a:t>.</a:t>
            </a:r>
          </a:p>
          <a:p>
            <a:r>
              <a:rPr lang="en-US" sz="1750" dirty="0">
                <a:solidFill>
                  <a:schemeClr val="bg1"/>
                </a:solidFill>
              </a:rPr>
              <a:t>A network graph was constructed using a </a:t>
            </a:r>
            <a:r>
              <a:rPr lang="en-US" sz="1750" b="1" dirty="0">
                <a:solidFill>
                  <a:schemeClr val="bg1"/>
                </a:solidFill>
              </a:rPr>
              <a:t>cosine ≥ 0.5 threshold</a:t>
            </a:r>
            <a:r>
              <a:rPr lang="en-US" sz="1750" dirty="0">
                <a:solidFill>
                  <a:schemeClr val="bg1"/>
                </a:solidFill>
              </a:rPr>
              <a:t>, capturing the strongest structural connections.</a:t>
            </a:r>
          </a:p>
          <a:p>
            <a:r>
              <a:rPr lang="en-US" sz="1750" b="1" dirty="0">
                <a:solidFill>
                  <a:schemeClr val="bg1"/>
                </a:solidFill>
              </a:rPr>
              <a:t>Louvain community detection</a:t>
            </a:r>
            <a:r>
              <a:rPr lang="en-US" sz="1750" dirty="0">
                <a:solidFill>
                  <a:schemeClr val="bg1"/>
                </a:solidFill>
              </a:rPr>
              <a:t> identified modular clusters in the network.</a:t>
            </a:r>
          </a:p>
          <a:p>
            <a:r>
              <a:rPr lang="en-US" sz="1750" b="1" dirty="0">
                <a:solidFill>
                  <a:schemeClr val="bg1"/>
                </a:solidFill>
              </a:rPr>
              <a:t>Centrality metrics</a:t>
            </a:r>
            <a:r>
              <a:rPr lang="en-US" sz="1750" dirty="0">
                <a:solidFill>
                  <a:schemeClr val="bg1"/>
                </a:solidFill>
              </a:rPr>
              <a:t> (degree, eigenvector, closeness) were calculated to determine the most influential communities.</a:t>
            </a:r>
          </a:p>
          <a:p>
            <a:r>
              <a:rPr lang="en-US" sz="1750" b="1" dirty="0" err="1">
                <a:solidFill>
                  <a:schemeClr val="bg1"/>
                </a:solidFill>
              </a:rPr>
              <a:t>KMeans</a:t>
            </a:r>
            <a:r>
              <a:rPr lang="en-US" sz="1750" b="1" dirty="0">
                <a:solidFill>
                  <a:schemeClr val="bg1"/>
                </a:solidFill>
              </a:rPr>
              <a:t> clustering (k = 3)</a:t>
            </a:r>
            <a:r>
              <a:rPr lang="en-US" sz="1750" dirty="0">
                <a:solidFill>
                  <a:schemeClr val="bg1"/>
                </a:solidFill>
              </a:rPr>
              <a:t> was used to confirm groups in PCA space.</a:t>
            </a:r>
          </a:p>
          <a:p>
            <a:endParaRPr lang="en-US" sz="1750" dirty="0">
              <a:solidFill>
                <a:schemeClr val="bg1"/>
              </a:solidFill>
            </a:endParaRPr>
          </a:p>
          <a:p>
            <a:r>
              <a:rPr lang="en-US" sz="1750" b="1" dirty="0">
                <a:solidFill>
                  <a:schemeClr val="bg1"/>
                </a:solidFill>
              </a:rPr>
              <a:t>Key Findings</a:t>
            </a:r>
          </a:p>
          <a:p>
            <a:r>
              <a:rPr lang="en-US" sz="1750" b="1" dirty="0">
                <a:solidFill>
                  <a:schemeClr val="bg1"/>
                </a:solidFill>
              </a:rPr>
              <a:t>Two major clusters emerged</a:t>
            </a:r>
            <a:r>
              <a:rPr lang="en-US" sz="1750" dirty="0">
                <a:solidFill>
                  <a:schemeClr val="bg1"/>
                </a:solidFill>
              </a:rPr>
              <a:t>:</a:t>
            </a:r>
          </a:p>
          <a:p>
            <a:pPr lvl="1"/>
            <a:r>
              <a:rPr lang="en-US" sz="1750" b="1" dirty="0">
                <a:solidFill>
                  <a:schemeClr val="bg1"/>
                </a:solidFill>
              </a:rPr>
              <a:t>North Side Cluster:</a:t>
            </a:r>
            <a:r>
              <a:rPr lang="en-US" sz="1750" dirty="0">
                <a:solidFill>
                  <a:schemeClr val="bg1"/>
                </a:solidFill>
              </a:rPr>
              <a:t> Lincoln Park, Lakeview, Near North Side — highly similar with strong internal connections.</a:t>
            </a:r>
          </a:p>
          <a:p>
            <a:pPr lvl="1"/>
            <a:r>
              <a:rPr lang="en-US" sz="1750" b="1" dirty="0">
                <a:solidFill>
                  <a:schemeClr val="bg1"/>
                </a:solidFill>
              </a:rPr>
              <a:t>Northwest Side Cluster:</a:t>
            </a:r>
            <a:r>
              <a:rPr lang="en-US" sz="1750" dirty="0">
                <a:solidFill>
                  <a:schemeClr val="bg1"/>
                </a:solidFill>
              </a:rPr>
              <a:t> Irving Park, Portage Park, Jefferson Park — well-connected and structurally similar.</a:t>
            </a:r>
          </a:p>
          <a:p>
            <a:r>
              <a:rPr lang="en-US" sz="1750" b="1" dirty="0">
                <a:solidFill>
                  <a:schemeClr val="bg1"/>
                </a:solidFill>
              </a:rPr>
              <a:t>Englewood and West Englewood</a:t>
            </a:r>
            <a:r>
              <a:rPr lang="en-US" sz="1750" dirty="0">
                <a:solidFill>
                  <a:schemeClr val="bg1"/>
                </a:solidFill>
              </a:rPr>
              <a:t> form a </a:t>
            </a:r>
            <a:r>
              <a:rPr lang="en-US" sz="1750" b="1" dirty="0">
                <a:solidFill>
                  <a:schemeClr val="bg1"/>
                </a:solidFill>
              </a:rPr>
              <a:t>distinct, isolated cluster</a:t>
            </a:r>
            <a:r>
              <a:rPr lang="en-US" sz="1750" dirty="0">
                <a:solidFill>
                  <a:schemeClr val="bg1"/>
                </a:solidFill>
              </a:rPr>
              <a:t>, showing very low similarity to the rest of the city.</a:t>
            </a:r>
          </a:p>
          <a:p>
            <a:r>
              <a:rPr lang="en-US" sz="1750" b="1" dirty="0">
                <a:solidFill>
                  <a:schemeClr val="bg1"/>
                </a:solidFill>
              </a:rPr>
              <a:t>Louvain modularity (0.329)</a:t>
            </a:r>
            <a:r>
              <a:rPr lang="en-US" sz="1750" dirty="0">
                <a:solidFill>
                  <a:schemeClr val="bg1"/>
                </a:solidFill>
              </a:rPr>
              <a:t> confirms meaningful community structure in the cosine-based network.</a:t>
            </a:r>
          </a:p>
        </p:txBody>
      </p:sp>
      <p:sp>
        <p:nvSpPr>
          <p:cNvPr id="23" name="Rectangle: Rounded Corners 22">
            <a:extLst>
              <a:ext uri="{FF2B5EF4-FFF2-40B4-BE49-F238E27FC236}">
                <a16:creationId xmlns:a16="http://schemas.microsoft.com/office/drawing/2014/main" id="{C80B8484-5741-EF9E-0151-6B62D6AA9156}"/>
              </a:ext>
            </a:extLst>
          </p:cNvPr>
          <p:cNvSpPr/>
          <p:nvPr/>
        </p:nvSpPr>
        <p:spPr>
          <a:xfrm>
            <a:off x="28283805" y="948781"/>
            <a:ext cx="4520294" cy="12805319"/>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50" b="1" dirty="0">
                <a:solidFill>
                  <a:schemeClr val="bg1"/>
                </a:solidFill>
              </a:rPr>
              <a:t>Centrality Insights</a:t>
            </a:r>
          </a:p>
          <a:p>
            <a:r>
              <a:rPr lang="en-US" sz="1750" b="1" dirty="0">
                <a:solidFill>
                  <a:schemeClr val="bg1"/>
                </a:solidFill>
              </a:rPr>
              <a:t>Jefferson Park and Irving Park</a:t>
            </a:r>
            <a:r>
              <a:rPr lang="en-US" sz="1750" dirty="0">
                <a:solidFill>
                  <a:schemeClr val="bg1"/>
                </a:solidFill>
              </a:rPr>
              <a:t> consistently show </a:t>
            </a:r>
            <a:r>
              <a:rPr lang="en-US" sz="1750" b="1" dirty="0">
                <a:solidFill>
                  <a:schemeClr val="bg1"/>
                </a:solidFill>
              </a:rPr>
              <a:t>high degree and eigenvector centrality</a:t>
            </a:r>
            <a:r>
              <a:rPr lang="en-US" sz="1750" dirty="0">
                <a:solidFill>
                  <a:schemeClr val="bg1"/>
                </a:solidFill>
              </a:rPr>
              <a:t>, indicating strong influence within the similarity network.</a:t>
            </a:r>
          </a:p>
          <a:p>
            <a:r>
              <a:rPr lang="en-US" sz="1750" b="1" dirty="0">
                <a:solidFill>
                  <a:schemeClr val="bg1"/>
                </a:solidFill>
              </a:rPr>
              <a:t>Lakeview and Lincoln Park</a:t>
            </a:r>
            <a:r>
              <a:rPr lang="en-US" sz="1750" dirty="0">
                <a:solidFill>
                  <a:schemeClr val="bg1"/>
                </a:solidFill>
              </a:rPr>
              <a:t> also score highly, confirming their central role in Chicago’s interconnected community structure.</a:t>
            </a:r>
          </a:p>
          <a:p>
            <a:r>
              <a:rPr lang="en-US" sz="1750" b="1" dirty="0">
                <a:solidFill>
                  <a:schemeClr val="bg1"/>
                </a:solidFill>
              </a:rPr>
              <a:t>South Lawndale</a:t>
            </a:r>
            <a:r>
              <a:rPr lang="en-US" sz="1750" dirty="0">
                <a:solidFill>
                  <a:schemeClr val="bg1"/>
                </a:solidFill>
              </a:rPr>
              <a:t> shows moderate connectivity but bridges across clusters.</a:t>
            </a:r>
          </a:p>
          <a:p>
            <a:r>
              <a:rPr lang="en-US" sz="1750" b="1" dirty="0">
                <a:solidFill>
                  <a:schemeClr val="bg1"/>
                </a:solidFill>
              </a:rPr>
              <a:t>Clustering &amp; Similarity Observations</a:t>
            </a:r>
          </a:p>
          <a:p>
            <a:r>
              <a:rPr lang="en-US" sz="1750" b="1" dirty="0" err="1">
                <a:solidFill>
                  <a:schemeClr val="bg1"/>
                </a:solidFill>
              </a:rPr>
              <a:t>KMeans</a:t>
            </a:r>
            <a:r>
              <a:rPr lang="en-US" sz="1750" b="1" dirty="0">
                <a:solidFill>
                  <a:schemeClr val="bg1"/>
                </a:solidFill>
              </a:rPr>
              <a:t> and PCA visualization</a:t>
            </a:r>
            <a:r>
              <a:rPr lang="en-US" sz="1750" dirty="0">
                <a:solidFill>
                  <a:schemeClr val="bg1"/>
                </a:solidFill>
              </a:rPr>
              <a:t> clearly separate Englewood/West Englewood as independent from all other neighborhoods.</a:t>
            </a:r>
          </a:p>
          <a:p>
            <a:r>
              <a:rPr lang="en-US" sz="1750" b="1" dirty="0">
                <a:solidFill>
                  <a:schemeClr val="bg1"/>
                </a:solidFill>
              </a:rPr>
              <a:t>Cosine similarity heatmap</a:t>
            </a:r>
            <a:r>
              <a:rPr lang="en-US" sz="1750" dirty="0">
                <a:solidFill>
                  <a:schemeClr val="bg1"/>
                </a:solidFill>
              </a:rPr>
              <a:t> highlights strong pairings such as</a:t>
            </a:r>
          </a:p>
          <a:p>
            <a:pPr lvl="1"/>
            <a:r>
              <a:rPr lang="en-US" sz="1750" dirty="0">
                <a:solidFill>
                  <a:schemeClr val="bg1"/>
                </a:solidFill>
              </a:rPr>
              <a:t>Lakeview ↔ Lincoln Park</a:t>
            </a:r>
          </a:p>
          <a:p>
            <a:pPr lvl="1"/>
            <a:r>
              <a:rPr lang="en-US" sz="1750" dirty="0">
                <a:solidFill>
                  <a:schemeClr val="bg1"/>
                </a:solidFill>
              </a:rPr>
              <a:t>Lincoln Park ↔ Near North Side</a:t>
            </a:r>
          </a:p>
          <a:p>
            <a:pPr lvl="1"/>
            <a:r>
              <a:rPr lang="en-US" sz="1750" dirty="0">
                <a:solidFill>
                  <a:schemeClr val="bg1"/>
                </a:solidFill>
              </a:rPr>
              <a:t>Irving Park ↔ Portage Park</a:t>
            </a:r>
          </a:p>
          <a:p>
            <a:r>
              <a:rPr lang="en-US" sz="1750" b="1" dirty="0">
                <a:solidFill>
                  <a:schemeClr val="bg1"/>
                </a:solidFill>
              </a:rPr>
              <a:t>Euclidean distance matrix</a:t>
            </a:r>
            <a:r>
              <a:rPr lang="en-US" sz="1750" dirty="0">
                <a:solidFill>
                  <a:schemeClr val="bg1"/>
                </a:solidFill>
              </a:rPr>
              <a:t> confirms these relationships, with very small distances inside clusters and large distances to Englewood.</a:t>
            </a:r>
          </a:p>
          <a:p>
            <a:endParaRPr lang="en-US" dirty="0"/>
          </a:p>
          <a:p>
            <a:endParaRPr lang="en-US" dirty="0"/>
          </a:p>
        </p:txBody>
      </p:sp>
      <p:sp>
        <p:nvSpPr>
          <p:cNvPr id="24" name="Rectangle: Rounded Corners 23">
            <a:extLst>
              <a:ext uri="{FF2B5EF4-FFF2-40B4-BE49-F238E27FC236}">
                <a16:creationId xmlns:a16="http://schemas.microsoft.com/office/drawing/2014/main" id="{32901C94-F88F-66D7-5D1F-73C670264366}"/>
              </a:ext>
            </a:extLst>
          </p:cNvPr>
          <p:cNvSpPr/>
          <p:nvPr/>
        </p:nvSpPr>
        <p:spPr>
          <a:xfrm>
            <a:off x="28299078" y="14185903"/>
            <a:ext cx="4619322" cy="775969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50" dirty="0">
              <a:solidFill>
                <a:schemeClr val="bg1"/>
              </a:solidFill>
            </a:endParaRPr>
          </a:p>
          <a:p>
            <a:endParaRPr lang="en-US" sz="1750" dirty="0">
              <a:solidFill>
                <a:schemeClr val="bg1"/>
              </a:solidFill>
            </a:endParaRPr>
          </a:p>
          <a:p>
            <a:r>
              <a:rPr lang="en-US" sz="1750" b="1" dirty="0">
                <a:solidFill>
                  <a:schemeClr val="bg1"/>
                </a:solidFill>
              </a:rPr>
              <a:t>Overall Conclusion : </a:t>
            </a:r>
            <a:r>
              <a:rPr lang="en-US" sz="1750" dirty="0">
                <a:solidFill>
                  <a:schemeClr val="bg1"/>
                </a:solidFill>
              </a:rPr>
              <a:t>Chicago’s neighborhoods form three clear socioeconomic groups shaped by income, education, and racial composition. Affluent North Side areas are highly interconnected, while Englewood and West Englewood remain isolated from the rest of the city.</a:t>
            </a:r>
          </a:p>
          <a:p>
            <a:r>
              <a:rPr lang="en-US" sz="1750" dirty="0" err="1">
                <a:solidFill>
                  <a:schemeClr val="bg1"/>
                </a:solidFill>
              </a:rPr>
              <a:t>Assortativity</a:t>
            </a:r>
            <a:r>
              <a:rPr lang="en-US" sz="1750" dirty="0">
                <a:solidFill>
                  <a:schemeClr val="bg1"/>
                </a:solidFill>
              </a:rPr>
              <a:t> results show a strong link between income and education (both 0.78), meaning neighborhoods with similar income levels also share similar educational attainment. These patterns reveal that socioeconomic advantages cluster together, creating distinct structural divisions across Chicago.</a:t>
            </a:r>
          </a:p>
          <a:p>
            <a:r>
              <a:rPr lang="en-US" sz="1750" dirty="0">
                <a:solidFill>
                  <a:schemeClr val="bg1"/>
                </a:solidFill>
              </a:rPr>
              <a:t>By combining similarity measures, clustering, and network analysis, this study highlights how socioeconomic characteristics form predictable and unequal networks across the city’s communities.</a:t>
            </a:r>
          </a:p>
          <a:p>
            <a:endParaRPr lang="en-US" b="1" dirty="0">
              <a:solidFill>
                <a:schemeClr val="bg1"/>
              </a:solidFill>
            </a:endParaRPr>
          </a:p>
        </p:txBody>
      </p:sp>
      <p:sp>
        <p:nvSpPr>
          <p:cNvPr id="26" name="Rectangle: Rounded Corners 25">
            <a:extLst>
              <a:ext uri="{FF2B5EF4-FFF2-40B4-BE49-F238E27FC236}">
                <a16:creationId xmlns:a16="http://schemas.microsoft.com/office/drawing/2014/main" id="{C510DE84-AA4B-E7E1-245C-74FDDD96BE9D}"/>
              </a:ext>
            </a:extLst>
          </p:cNvPr>
          <p:cNvSpPr/>
          <p:nvPr/>
        </p:nvSpPr>
        <p:spPr>
          <a:xfrm>
            <a:off x="14230350" y="15452369"/>
            <a:ext cx="1913744" cy="740772"/>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Result</a:t>
            </a:r>
          </a:p>
        </p:txBody>
      </p:sp>
      <p:sp>
        <p:nvSpPr>
          <p:cNvPr id="27" name="Rectangle: Rounded Corners 26">
            <a:extLst>
              <a:ext uri="{FF2B5EF4-FFF2-40B4-BE49-F238E27FC236}">
                <a16:creationId xmlns:a16="http://schemas.microsoft.com/office/drawing/2014/main" id="{B75D0F64-F973-C77F-B3EF-3669CB201FDE}"/>
              </a:ext>
            </a:extLst>
          </p:cNvPr>
          <p:cNvSpPr/>
          <p:nvPr/>
        </p:nvSpPr>
        <p:spPr>
          <a:xfrm>
            <a:off x="5661145" y="7063174"/>
            <a:ext cx="7530703" cy="326062"/>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1. Cosine similarity matrix revealing two highly similar clusters</a:t>
            </a:r>
            <a:r>
              <a:rPr lang="en-US" sz="1600" b="1" dirty="0"/>
              <a:t>.</a:t>
            </a:r>
          </a:p>
        </p:txBody>
      </p:sp>
      <p:sp>
        <p:nvSpPr>
          <p:cNvPr id="30" name="Rectangle: Rounded Corners 29">
            <a:extLst>
              <a:ext uri="{FF2B5EF4-FFF2-40B4-BE49-F238E27FC236}">
                <a16:creationId xmlns:a16="http://schemas.microsoft.com/office/drawing/2014/main" id="{32BEB3C7-AF23-A8C6-F31B-147724D62910}"/>
              </a:ext>
            </a:extLst>
          </p:cNvPr>
          <p:cNvSpPr/>
          <p:nvPr/>
        </p:nvSpPr>
        <p:spPr>
          <a:xfrm>
            <a:off x="18006541" y="7069759"/>
            <a:ext cx="7530704" cy="298106"/>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2. Euclidean distance matrix confirming similarity structure</a:t>
            </a:r>
          </a:p>
        </p:txBody>
      </p:sp>
      <p:sp>
        <p:nvSpPr>
          <p:cNvPr id="33" name="Rectangle: Rounded Corners 32">
            <a:extLst>
              <a:ext uri="{FF2B5EF4-FFF2-40B4-BE49-F238E27FC236}">
                <a16:creationId xmlns:a16="http://schemas.microsoft.com/office/drawing/2014/main" id="{F62D9633-4941-D812-A618-942C32A40A99}"/>
              </a:ext>
            </a:extLst>
          </p:cNvPr>
          <p:cNvSpPr/>
          <p:nvPr/>
        </p:nvSpPr>
        <p:spPr>
          <a:xfrm>
            <a:off x="4617432" y="15281937"/>
            <a:ext cx="9164636" cy="256562"/>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3. </a:t>
            </a:r>
            <a:r>
              <a:rPr lang="en-US" sz="1600" b="1" dirty="0" err="1">
                <a:solidFill>
                  <a:schemeClr val="bg1"/>
                </a:solidFill>
              </a:rPr>
              <a:t>KMeans</a:t>
            </a:r>
            <a:r>
              <a:rPr lang="en-US" sz="1600" b="1" dirty="0">
                <a:solidFill>
                  <a:schemeClr val="bg1"/>
                </a:solidFill>
              </a:rPr>
              <a:t> PCA plot showing three distinct socioeconomic clusters.</a:t>
            </a:r>
          </a:p>
        </p:txBody>
      </p:sp>
      <p:sp>
        <p:nvSpPr>
          <p:cNvPr id="34" name="Rectangle: Rounded Corners 33">
            <a:extLst>
              <a:ext uri="{FF2B5EF4-FFF2-40B4-BE49-F238E27FC236}">
                <a16:creationId xmlns:a16="http://schemas.microsoft.com/office/drawing/2014/main" id="{435324CA-359A-51DF-61FF-43DF7B588B06}"/>
              </a:ext>
            </a:extLst>
          </p:cNvPr>
          <p:cNvSpPr/>
          <p:nvPr/>
        </p:nvSpPr>
        <p:spPr>
          <a:xfrm>
            <a:off x="17624764" y="15215784"/>
            <a:ext cx="8749102" cy="256562"/>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4. Network graph under multiple thresholds demonstrating connectivity differences.</a:t>
            </a:r>
          </a:p>
        </p:txBody>
      </p:sp>
      <p:sp>
        <p:nvSpPr>
          <p:cNvPr id="35" name="Rectangle: Rounded Corners 34">
            <a:extLst>
              <a:ext uri="{FF2B5EF4-FFF2-40B4-BE49-F238E27FC236}">
                <a16:creationId xmlns:a16="http://schemas.microsoft.com/office/drawing/2014/main" id="{466220A6-0C04-501A-70A7-394B0812DA4C}"/>
              </a:ext>
            </a:extLst>
          </p:cNvPr>
          <p:cNvSpPr/>
          <p:nvPr/>
        </p:nvSpPr>
        <p:spPr>
          <a:xfrm>
            <a:off x="19959323" y="21457901"/>
            <a:ext cx="7250854" cy="256561"/>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6. Centrality metrics identifying structural importance.</a:t>
            </a:r>
          </a:p>
        </p:txBody>
      </p:sp>
      <p:sp>
        <p:nvSpPr>
          <p:cNvPr id="36" name="Rectangle: Rounded Corners 35">
            <a:extLst>
              <a:ext uri="{FF2B5EF4-FFF2-40B4-BE49-F238E27FC236}">
                <a16:creationId xmlns:a16="http://schemas.microsoft.com/office/drawing/2014/main" id="{0F3E3DC0-5807-BF38-74C6-0FFAEBF27793}"/>
              </a:ext>
            </a:extLst>
          </p:cNvPr>
          <p:cNvSpPr/>
          <p:nvPr/>
        </p:nvSpPr>
        <p:spPr>
          <a:xfrm>
            <a:off x="4595875" y="21474413"/>
            <a:ext cx="6853175" cy="256561"/>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Figure 5. Louvain communities with modularity score.</a:t>
            </a:r>
          </a:p>
        </p:txBody>
      </p:sp>
      <p:pic>
        <p:nvPicPr>
          <p:cNvPr id="40" name="Picture 39">
            <a:extLst>
              <a:ext uri="{FF2B5EF4-FFF2-40B4-BE49-F238E27FC236}">
                <a16:creationId xmlns:a16="http://schemas.microsoft.com/office/drawing/2014/main" id="{F0D9E346-6A2C-6899-CB64-B95629848B36}"/>
              </a:ext>
            </a:extLst>
          </p:cNvPr>
          <p:cNvPicPr>
            <a:picLocks noChangeAspect="1"/>
          </p:cNvPicPr>
          <p:nvPr/>
        </p:nvPicPr>
        <p:blipFill>
          <a:blip r:embed="rId9"/>
          <a:stretch>
            <a:fillRect/>
          </a:stretch>
        </p:blipFill>
        <p:spPr>
          <a:xfrm>
            <a:off x="12194549" y="16356549"/>
            <a:ext cx="6572250" cy="4812680"/>
          </a:xfrm>
          <a:prstGeom prst="rect">
            <a:avLst/>
          </a:prstGeom>
        </p:spPr>
      </p:pic>
      <p:sp>
        <p:nvSpPr>
          <p:cNvPr id="41" name="Rectangle: Rounded Corners 40">
            <a:extLst>
              <a:ext uri="{FF2B5EF4-FFF2-40B4-BE49-F238E27FC236}">
                <a16:creationId xmlns:a16="http://schemas.microsoft.com/office/drawing/2014/main" id="{F2EEB4A0-7EE9-CADF-426E-4257B572C895}"/>
              </a:ext>
            </a:extLst>
          </p:cNvPr>
          <p:cNvSpPr/>
          <p:nvPr/>
        </p:nvSpPr>
        <p:spPr>
          <a:xfrm>
            <a:off x="12797228" y="21402786"/>
            <a:ext cx="5969571" cy="256562"/>
          </a:xfrm>
          <a:prstGeom prst="round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bg1"/>
              </a:solidFill>
            </a:endParaRPr>
          </a:p>
          <a:p>
            <a:pPr algn="ctr"/>
            <a:r>
              <a:rPr lang="en-US" sz="1600" b="1" dirty="0">
                <a:solidFill>
                  <a:schemeClr val="bg1"/>
                </a:solidFill>
              </a:rPr>
              <a:t>Figure 7. </a:t>
            </a:r>
            <a:r>
              <a:rPr lang="en-US" b="1" dirty="0" err="1">
                <a:solidFill>
                  <a:schemeClr val="bg1"/>
                </a:solidFill>
              </a:rPr>
              <a:t>Assortativity</a:t>
            </a:r>
            <a:r>
              <a:rPr lang="en-US" b="1" dirty="0">
                <a:solidFill>
                  <a:schemeClr val="bg1"/>
                </a:solidFill>
              </a:rPr>
              <a:t> by Attribute</a:t>
            </a:r>
          </a:p>
          <a:p>
            <a:pPr algn="ctr"/>
            <a:endParaRPr lang="en-US" sz="1600" b="1" dirty="0">
              <a:solidFill>
                <a:schemeClr val="bg1"/>
              </a:solidFill>
            </a:endParaRPr>
          </a:p>
        </p:txBody>
      </p:sp>
    </p:spTree>
    <p:extLst>
      <p:ext uri="{BB962C8B-B14F-4D97-AF65-F5344CB8AC3E}">
        <p14:creationId xmlns:p14="http://schemas.microsoft.com/office/powerpoint/2010/main" val="2238986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488</TotalTime>
  <Words>528</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HAMZA BU OBAID</dc:creator>
  <cp:lastModifiedBy>HAMZA BU OBAID</cp:lastModifiedBy>
  <cp:revision>2</cp:revision>
  <dcterms:created xsi:type="dcterms:W3CDTF">2025-12-03T18:28:57Z</dcterms:created>
  <dcterms:modified xsi:type="dcterms:W3CDTF">2025-12-04T02:37:51Z</dcterms:modified>
</cp:coreProperties>
</file>